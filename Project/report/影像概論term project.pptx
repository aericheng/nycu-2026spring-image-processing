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ato" charset="1" panose="020F0502020204030203"/>
      <p:regular r:id="rId16"/>
    </p:embeddedFont>
    <p:embeddedFont>
      <p:font typeface="Helios Extended Bold" charset="1" panose="02000805050000020004"/>
      <p:regular r:id="rId17"/>
    </p:embeddedFont>
    <p:embeddedFont>
      <p:font typeface="Heebo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4078" y="1326430"/>
            <a:ext cx="21203378" cy="7634140"/>
            <a:chOff x="0" y="0"/>
            <a:chExt cx="1128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8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128752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900981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00950" y="7710584"/>
            <a:ext cx="3086100" cy="804358"/>
            <a:chOff x="0" y="0"/>
            <a:chExt cx="812800" cy="2118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211847"/>
            </a:xfrm>
            <a:custGeom>
              <a:avLst/>
              <a:gdLst/>
              <a:ahLst/>
              <a:cxnLst/>
              <a:rect r="r" b="b" t="t" l="l"/>
              <a:pathLst>
                <a:path h="211847" w="812800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61675"/>
                  </a:lnTo>
                  <a:cubicBezTo>
                    <a:pt x="812800" y="174981"/>
                    <a:pt x="807514" y="187743"/>
                    <a:pt x="798105" y="197152"/>
                  </a:cubicBezTo>
                  <a:cubicBezTo>
                    <a:pt x="788695" y="206561"/>
                    <a:pt x="775934" y="211847"/>
                    <a:pt x="762627" y="211847"/>
                  </a:cubicBezTo>
                  <a:lnTo>
                    <a:pt x="50173" y="211847"/>
                  </a:lnTo>
                  <a:cubicBezTo>
                    <a:pt x="36866" y="211847"/>
                    <a:pt x="24105" y="206561"/>
                    <a:pt x="14695" y="197152"/>
                  </a:cubicBezTo>
                  <a:cubicBezTo>
                    <a:pt x="5286" y="187743"/>
                    <a:pt x="0" y="174981"/>
                    <a:pt x="0" y="161675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4E6E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259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 spc="219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13 June, 2026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60313" y="2698608"/>
            <a:ext cx="13567374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影像處理概論TERM PROJECT</a:t>
            </a:r>
          </a:p>
          <a:p>
            <a:pPr algn="ctr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-夜間運動模糊的人臉修復：回歸式去模糊結合生成式先驗</a:t>
            </a:r>
          </a:p>
          <a:p>
            <a:pPr algn="ctr" marL="0" indent="0" lvl="0">
              <a:lnSpc>
                <a:spcPts val="84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58126" y="6707363"/>
            <a:ext cx="12371749" cy="4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</a:pPr>
            <a:r>
              <a:rPr lang="en-US" b="true" sz="2899" spc="28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112950026 孫奇霆       113950011鄭名翔       113950020張媛婷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721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01007" y="0"/>
            <a:ext cx="10286993" cy="10287000"/>
            <a:chOff x="0" y="0"/>
            <a:chExt cx="2709331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1">
                  <a:moveTo>
                    <a:pt x="0" y="0"/>
                  </a:moveTo>
                  <a:lnTo>
                    <a:pt x="2709331" y="0"/>
                  </a:lnTo>
                  <a:lnTo>
                    <a:pt x="270933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583282" y="3279690"/>
            <a:ext cx="8551773" cy="3487491"/>
          </a:xfrm>
          <a:custGeom>
            <a:avLst/>
            <a:gdLst/>
            <a:ahLst/>
            <a:cxnLst/>
            <a:rect r="r" b="b" t="t" l="l"/>
            <a:pathLst>
              <a:path h="3487491" w="8551773">
                <a:moveTo>
                  <a:pt x="0" y="0"/>
                </a:moveTo>
                <a:lnTo>
                  <a:pt x="8551773" y="0"/>
                </a:lnTo>
                <a:lnTo>
                  <a:pt x="8551773" y="3487491"/>
                </a:lnTo>
                <a:lnTo>
                  <a:pt x="0" y="3487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3768" y="1828800"/>
            <a:ext cx="6793374" cy="671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15 張夜間真實照片，6K–8K，含 motion blur，無 ground truth（不能用 PSNR/SSIM）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作業範例正是 blurry face → sharp face，我們以此為目標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目標：主體可信還原的前提下，做出前後差異最明顯的 before/after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– 挑模糊最重、但仍可修復的主體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33768" y="866775"/>
            <a:ext cx="155290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問題與目標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6207" y="6847876"/>
            <a:ext cx="5445923" cy="74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0"/>
              </a:lnSpc>
            </a:pPr>
            <a:r>
              <a:rPr lang="en-US" sz="1900" spc="19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題目提供的 15 張夜間模糊照片</a:t>
            </a:r>
          </a:p>
          <a:p>
            <a:pPr algn="ctr" marL="0" indent="0" lvl="0">
              <a:lnSpc>
                <a:spcPts val="30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9258300"/>
            <a:ext cx="248490" cy="2484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0210" y="78021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806132" y="2564005"/>
            <a:ext cx="8701657" cy="4094897"/>
          </a:xfrm>
          <a:custGeom>
            <a:avLst/>
            <a:gdLst/>
            <a:ahLst/>
            <a:cxnLst/>
            <a:rect r="r" b="b" t="t" l="l"/>
            <a:pathLst>
              <a:path h="4094897" w="8701657">
                <a:moveTo>
                  <a:pt x="0" y="0"/>
                </a:moveTo>
                <a:lnTo>
                  <a:pt x="8701658" y="0"/>
                </a:lnTo>
                <a:lnTo>
                  <a:pt x="8701658" y="4094898"/>
                </a:lnTo>
                <a:lnTo>
                  <a:pt x="0" y="4094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3768" y="866775"/>
            <a:ext cx="155290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基礎方法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828800"/>
            <a:ext cx="6793374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成功執行 FFTformer（CVPR 2023，頻域 transformer，RealBlur-J 權重）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也比較過 DarkIR（只提亮）、MISCFilter（去模糊有限）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回歸式學 blur→sharp；臉的高頻被抹除後，輸出偏軟、帶噪（接近上限）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05218" y="6827179"/>
            <a:ext cx="8278326" cy="78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RAW ｜ FFTformer ｜FFTformer→SUPIR</a:t>
            </a:r>
          </a:p>
          <a:p>
            <a:pPr algn="ctr" marL="0" indent="0" lvl="0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010810" y="9258300"/>
            <a:ext cx="248490" cy="2484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16230600" cy="3286697"/>
          </a:xfrm>
          <a:custGeom>
            <a:avLst/>
            <a:gdLst/>
            <a:ahLst/>
            <a:cxnLst/>
            <a:rect r="r" b="b" t="t" l="l"/>
            <a:pathLst>
              <a:path h="3286697" w="16230600">
                <a:moveTo>
                  <a:pt x="0" y="0"/>
                </a:moveTo>
                <a:lnTo>
                  <a:pt x="16230600" y="0"/>
                </a:lnTo>
                <a:lnTo>
                  <a:pt x="16230600" y="3286696"/>
                </a:lnTo>
                <a:lnTo>
                  <a:pt x="0" y="3286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3768" y="866775"/>
            <a:ext cx="1552906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方法：回歸去模糊 + 生成式臉部先驗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33768" y="1905000"/>
            <a:ext cx="16225532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裁臉 → FFTformer（去模糊、給乾淨結構）→ SUPIR-v0F（擴散先驗補臉部高頻，高 control 貼合五官）→ 羽化合成 → 輕度調色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兩階段互補：先把 kernel 縮回範圍給乾淨結構，再補細節；high control 控制幻覺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06369" cy="10287000"/>
            <a:chOff x="0" y="0"/>
            <a:chExt cx="179262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26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92624">
                  <a:moveTo>
                    <a:pt x="0" y="0"/>
                  </a:moveTo>
                  <a:lnTo>
                    <a:pt x="1792624" y="0"/>
                  </a:lnTo>
                  <a:lnTo>
                    <a:pt x="1792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9262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0210" y="78021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4239553"/>
            <a:ext cx="7853892" cy="5152308"/>
          </a:xfrm>
          <a:custGeom>
            <a:avLst/>
            <a:gdLst/>
            <a:ahLst/>
            <a:cxnLst/>
            <a:rect r="r" b="b" t="t" l="l"/>
            <a:pathLst>
              <a:path h="5152308" w="7853892">
                <a:moveTo>
                  <a:pt x="0" y="0"/>
                </a:moveTo>
                <a:lnTo>
                  <a:pt x="7853892" y="0"/>
                </a:lnTo>
                <a:lnTo>
                  <a:pt x="7853892" y="5152308"/>
                </a:lnTo>
                <a:lnTo>
                  <a:pt x="0" y="515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91463" y="4239553"/>
            <a:ext cx="5866298" cy="5152308"/>
          </a:xfrm>
          <a:custGeom>
            <a:avLst/>
            <a:gdLst/>
            <a:ahLst/>
            <a:cxnLst/>
            <a:rect r="r" b="b" t="t" l="l"/>
            <a:pathLst>
              <a:path h="5152308" w="5866298">
                <a:moveTo>
                  <a:pt x="0" y="0"/>
                </a:moveTo>
                <a:lnTo>
                  <a:pt x="5866298" y="0"/>
                </a:lnTo>
                <a:lnTo>
                  <a:pt x="5866298" y="5152308"/>
                </a:lnTo>
                <a:lnTo>
                  <a:pt x="0" y="515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3768" y="866775"/>
            <a:ext cx="1552906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結果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33768" y="2019593"/>
            <a:ext cx="16889768" cy="221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繳交 2 張不同場景的「模糊路人 → 清晰真人臉」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右圖（女子）上半臉為生成，下一頁誠實揭露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73381" y="9385300"/>
            <a:ext cx="7764530" cy="78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夜市男子</a:t>
            </a:r>
          </a:p>
          <a:p>
            <a:pPr algn="ctr" marL="0" indent="0" lvl="0">
              <a:lnSpc>
                <a:spcPts val="3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742347" y="9385300"/>
            <a:ext cx="7764530" cy="78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霓虹巷弄女子</a:t>
            </a:r>
          </a:p>
          <a:p>
            <a:pPr algn="ctr" marL="0" indent="0" lvl="0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9258300"/>
            <a:ext cx="248490" cy="2484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0210" y="78021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98299" y="3199682"/>
            <a:ext cx="8428296" cy="3724626"/>
          </a:xfrm>
          <a:custGeom>
            <a:avLst/>
            <a:gdLst/>
            <a:ahLst/>
            <a:cxnLst/>
            <a:rect r="r" b="b" t="t" l="l"/>
            <a:pathLst>
              <a:path h="3724626" w="8428296">
                <a:moveTo>
                  <a:pt x="0" y="0"/>
                </a:moveTo>
                <a:lnTo>
                  <a:pt x="8428296" y="0"/>
                </a:lnTo>
                <a:lnTo>
                  <a:pt x="8428296" y="3724626"/>
                </a:lnTo>
                <a:lnTo>
                  <a:pt x="0" y="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3768" y="866775"/>
            <a:ext cx="1552906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誠實面：真實修復 VS 生成合成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905000"/>
            <a:ext cx="6793374" cy="615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臉部細節是擴散先驗合成（prior-guided，與範例 GFPGAN/GPEN 同類），非解卷積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#1 男子：五官 layout 真實、高 control 緊錨；高頻仍為先驗合成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#2 女子：眼睛 / 上半臉為生成（原圖被運動重影破壞）</a:t>
            </a: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重點：高 NR-IQA 不代表真實還原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30182" y="7032006"/>
            <a:ext cx="7764530" cy="78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不同 seed：受結構約束處大致一致（一致 ≠ 忠實）</a:t>
            </a:r>
          </a:p>
          <a:p>
            <a:pPr algn="ctr" marL="0" indent="0" lvl="0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010810" y="9258300"/>
            <a:ext cx="248490" cy="2484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3768" y="866775"/>
            <a:ext cx="1552906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解決的實作困難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33768" y="1905000"/>
            <a:ext cx="16225532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16 GB 顯存跑 6–8K：FFTformer overlap-blend tiling；SUPIR tiled VAE / tiled sampling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Blackwell sm_120：需 PyTorch 2.11+cu128；ComfyUI/SUPIR 與 FFTformer 相依衝突</a:t>
            </a: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– 兩個隔離的 conda env（deblur / comfy）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生成式幻覺控制：裁臉（背景不亂修）+ 高 control + 裁掉幻覺邊緣</a:t>
            </a: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– 整圖會在主體旁生出第二張臉，故改裁臉局部修復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06369" cy="10287000"/>
            <a:chOff x="0" y="0"/>
            <a:chExt cx="179262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26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92624">
                  <a:moveTo>
                    <a:pt x="0" y="0"/>
                  </a:moveTo>
                  <a:lnTo>
                    <a:pt x="1792624" y="0"/>
                  </a:lnTo>
                  <a:lnTo>
                    <a:pt x="1792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9262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0210" y="780210"/>
            <a:ext cx="248490" cy="2484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75882" y="2133893"/>
            <a:ext cx="5366683" cy="6741777"/>
          </a:xfrm>
          <a:custGeom>
            <a:avLst/>
            <a:gdLst/>
            <a:ahLst/>
            <a:cxnLst/>
            <a:rect r="r" b="b" t="t" l="l"/>
            <a:pathLst>
              <a:path h="6741777" w="5366683">
                <a:moveTo>
                  <a:pt x="0" y="0"/>
                </a:moveTo>
                <a:lnTo>
                  <a:pt x="5366684" y="0"/>
                </a:lnTo>
                <a:lnTo>
                  <a:pt x="5366684" y="6741776"/>
                </a:lnTo>
                <a:lnTo>
                  <a:pt x="0" y="6741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3768" y="866775"/>
            <a:ext cx="1552906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驗證過、但沒採用的方向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33768" y="2019593"/>
            <a:ext cx="7764530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純車輛去模糊（05、08）：真實去模糊但對比太小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玻璃反射（15）：layer separation 非模糊，去不掉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整張 SUPIR：把背景人群幻覺成扭曲臉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重點：說明什麼有效、什麼無效、為什麼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03530" y="8948802"/>
            <a:ext cx="7764530" cy="78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玻璃反射（左）｜車輛去模糊對比小（右）</a:t>
            </a:r>
          </a:p>
          <a:p>
            <a:pPr algn="ctr" marL="0" indent="0" lvl="0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cap="flat" w="57150">
            <a:solidFill>
              <a:srgbClr val="4E6E8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010810" y="9258300"/>
            <a:ext cx="248490" cy="2484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3768" y="866775"/>
            <a:ext cx="1552906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結論與限制</a:t>
            </a:r>
          </a:p>
          <a:p>
            <a:pPr algn="l" marL="0" indent="0" lvl="0">
              <a:lnSpc>
                <a:spcPts val="84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33768" y="1905000"/>
            <a:ext cx="16225532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貢獻：回歸→生成 兩階段人臉修復 + 誠實的 fidelity 界線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限制：玻璃反射需 layer separation；被重影破壞的五官無法真實還原，只能可信生成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sz="2799" spc="2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 未來：臉部專用修復（fidelity 旋鈕）、真實 paired night-blur 微調、reflection removal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4078" y="1326430"/>
            <a:ext cx="21203378" cy="7634140"/>
            <a:chOff x="0" y="0"/>
            <a:chExt cx="1128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8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128752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58126" y="3970422"/>
            <a:ext cx="12371749" cy="206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8"/>
              </a:lnSpc>
            </a:pPr>
            <a:r>
              <a:rPr lang="en-US" b="true" sz="11598" spc="57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9009810"/>
            <a:ext cx="248490" cy="2484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10810" y="1028700"/>
            <a:ext cx="248490" cy="2484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DAHLeoUo84E</dc:identifier>
  <dcterms:modified xsi:type="dcterms:W3CDTF">2011-08-01T06:04:30Z</dcterms:modified>
  <cp:revision>1</cp:revision>
  <dc:title>影像概論term project</dc:title>
</cp:coreProperties>
</file>